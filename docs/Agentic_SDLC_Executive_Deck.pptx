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874519"/>
          </a:xfrm>
          <a:prstGeom prst="rect">
            <a:avLst/>
          </a:prstGeom>
          <a:solidFill>
            <a:srgbClr val="175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874519"/>
            <a:ext cx="12191695" cy="76200"/>
          </a:xfrm>
          <a:prstGeom prst="rect">
            <a:avLst/>
          </a:prstGeom>
          <a:solidFill>
            <a:srgbClr val="2A7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9EBFF"/>
                </a:solidFill>
                <a:latin typeface="Segoe UI"/>
              </a:rPr>
              <a:t>AGENTIC SDLC DELIVERY SYSTEM   |   PROOF OF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105783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300" b="1">
                <a:solidFill>
                  <a:srgbClr val="FFFFFF"/>
                </a:solidFill>
                <a:latin typeface="Segoe UI"/>
              </a:rPr>
              <a:t>Agents do the delivery work. People keep the decisions.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71600"/>
            <a:ext cx="110578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9EBFF"/>
                </a:solidFill>
                <a:latin typeface="Segoe UI"/>
              </a:rPr>
              <a:t>A requirement goes in. Tested, deployed, fully evidenced stories come out - and a named human signs off at every gate.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6968" y="2331720"/>
            <a:ext cx="306324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6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500" b="1">
                <a:solidFill>
                  <a:srgbClr val="17518D"/>
                </a:solidFill>
                <a:latin typeface="Segoe UI"/>
              </a:rPr>
              <a:t>REQUIREMENT</a:t>
            </a:r>
          </a:p>
          <a:p>
            <a:pPr algn="ctr"/>
            <a:r>
              <a:rPr sz="1150" b="0">
                <a:solidFill>
                  <a:srgbClr val="17518D"/>
                </a:solidFill>
                <a:latin typeface="Segoe UI"/>
              </a:rPr>
              <a:t>One business need, captured once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78224" y="2939796"/>
            <a:ext cx="402336" cy="201168"/>
          </a:xfrm>
          <a:prstGeom prst="rightArrow">
            <a:avLst/>
          </a:prstGeom>
          <a:solidFill>
            <a:srgbClr val="2A7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608576" y="2331720"/>
            <a:ext cx="3063240" cy="1417320"/>
          </a:xfrm>
          <a:prstGeom prst="roundRect">
            <a:avLst/>
          </a:prstGeom>
          <a:solidFill>
            <a:srgbClr val="1F66B0"/>
          </a:solidFill>
          <a:ln w="19050">
            <a:solidFill>
              <a:srgbClr val="1F6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AGENTS DO THE WORK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Segoe UI"/>
              </a:rPr>
              <a:t>Plan • code • test • deploy • evidence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799832" y="2939796"/>
            <a:ext cx="402336" cy="201168"/>
          </a:xfrm>
          <a:prstGeom prst="rightArrow">
            <a:avLst/>
          </a:prstGeom>
          <a:solidFill>
            <a:srgbClr val="2A7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330184" y="2331720"/>
            <a:ext cx="306324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6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500" b="1">
                <a:solidFill>
                  <a:srgbClr val="17518D"/>
                </a:solidFill>
                <a:latin typeface="Segoe UI"/>
              </a:rPr>
              <a:t>DONE</a:t>
            </a:r>
          </a:p>
          <a:p>
            <a:pPr algn="ctr"/>
            <a:r>
              <a:rPr sz="1150" b="0">
                <a:solidFill>
                  <a:srgbClr val="17518D"/>
                </a:solidFill>
                <a:latin typeface="Segoe UI"/>
              </a:rPr>
              <a:t>With a complete, replayable audit trail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05756" y="3931920"/>
            <a:ext cx="2468880" cy="384048"/>
          </a:xfrm>
          <a:prstGeom prst="roundRect">
            <a:avLst/>
          </a:prstGeom>
          <a:solidFill>
            <a:srgbClr val="FDF4E3"/>
          </a:solidFill>
          <a:ln w="12700">
            <a:solidFill>
              <a:srgbClr val="B56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50" b="1">
                <a:solidFill>
                  <a:srgbClr val="B56A0B"/>
                </a:solidFill>
                <a:latin typeface="Segoe UI"/>
              </a:rPr>
              <a:t>5 HUMAN APPROVAL GATES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663440"/>
            <a:ext cx="2679192" cy="1170432"/>
          </a:xfrm>
          <a:prstGeom prst="roundRect">
            <a:avLst/>
          </a:prstGeom>
          <a:solidFill>
            <a:srgbClr val="EEF6FF"/>
          </a:solidFill>
          <a:ln w="15875">
            <a:solidFill>
              <a:srgbClr val="D9E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82296" rIns="45720" bIns="18288" rtlCol="0" anchor="ctr"/>
          <a:lstStyle/>
          <a:p>
            <a:pPr algn="ctr"/>
            <a:r>
              <a:rPr sz="2900" b="1">
                <a:solidFill>
                  <a:srgbClr val="17518D"/>
                </a:solidFill>
                <a:latin typeface="Segoe UI"/>
              </a:rPr>
              <a:t>$179</a:t>
            </a:r>
          </a:p>
          <a:p>
            <a:pPr algn="ctr"/>
            <a:r>
              <a:rPr sz="1200" b="0">
                <a:solidFill>
                  <a:srgbClr val="10202E"/>
                </a:solidFill>
                <a:latin typeface="Segoe UI"/>
              </a:rPr>
              <a:t>to build it</a:t>
            </a:r>
          </a:p>
          <a:p>
            <a:pPr algn="ctr"/>
            <a:r>
              <a:rPr sz="950" b="0">
                <a:solidFill>
                  <a:srgbClr val="4A5B68"/>
                </a:solidFill>
                <a:latin typeface="Segoe UI"/>
              </a:rPr>
              <a:t>one-off, in tokens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4663440"/>
            <a:ext cx="2679192" cy="1170432"/>
          </a:xfrm>
          <a:prstGeom prst="roundRect">
            <a:avLst/>
          </a:prstGeom>
          <a:solidFill>
            <a:srgbClr val="EEF6FF"/>
          </a:solidFill>
          <a:ln w="15875">
            <a:solidFill>
              <a:srgbClr val="D9E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82296" rIns="45720" bIns="18288" rtlCol="0" anchor="ctr"/>
          <a:lstStyle/>
          <a:p>
            <a:pPr algn="ctr"/>
            <a:r>
              <a:rPr sz="2900" b="1">
                <a:solidFill>
                  <a:srgbClr val="17518D"/>
                </a:solidFill>
                <a:latin typeface="Segoe UI"/>
              </a:rPr>
              <a:t>$11.80</a:t>
            </a:r>
          </a:p>
          <a:p>
            <a:pPr algn="ctr"/>
            <a:r>
              <a:rPr sz="1200" b="0">
                <a:solidFill>
                  <a:srgbClr val="10202E"/>
                </a:solidFill>
                <a:latin typeface="Segoe UI"/>
              </a:rPr>
              <a:t>per story</a:t>
            </a:r>
          </a:p>
          <a:p>
            <a:pPr algn="ctr"/>
            <a:r>
              <a:rPr sz="950" b="0">
                <a:solidFill>
                  <a:srgbClr val="4A5B68"/>
                </a:solidFill>
                <a:latin typeface="Segoe UI"/>
              </a:rPr>
              <a:t>intake to closure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4663440"/>
            <a:ext cx="2679192" cy="1170432"/>
          </a:xfrm>
          <a:prstGeom prst="roundRect">
            <a:avLst/>
          </a:prstGeom>
          <a:solidFill>
            <a:srgbClr val="EEF6FF"/>
          </a:solidFill>
          <a:ln w="15875">
            <a:solidFill>
              <a:srgbClr val="D9E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82296" rIns="45720" bIns="18288" rtlCol="0" anchor="ctr"/>
          <a:lstStyle/>
          <a:p>
            <a:pPr algn="ctr"/>
            <a:r>
              <a:rPr sz="2900" b="1">
                <a:solidFill>
                  <a:srgbClr val="17518D"/>
                </a:solidFill>
                <a:latin typeface="Segoe UI"/>
              </a:rPr>
              <a:t>$235-660</a:t>
            </a:r>
          </a:p>
          <a:p>
            <a:pPr algn="ctr"/>
            <a:r>
              <a:rPr sz="1200" b="0">
                <a:solidFill>
                  <a:srgbClr val="10202E"/>
                </a:solidFill>
                <a:latin typeface="Segoe UI"/>
              </a:rPr>
              <a:t>per month</a:t>
            </a:r>
          </a:p>
          <a:p>
            <a:pPr algn="ctr"/>
            <a:r>
              <a:rPr sz="950" b="0">
                <a:solidFill>
                  <a:srgbClr val="4A5B68"/>
                </a:solidFill>
                <a:latin typeface="Segoe UI"/>
              </a:rPr>
              <a:t>infrastructure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53144" y="4663440"/>
            <a:ext cx="2679192" cy="1170432"/>
          </a:xfrm>
          <a:prstGeom prst="roundRect">
            <a:avLst/>
          </a:prstGeom>
          <a:solidFill>
            <a:srgbClr val="EEF6FF"/>
          </a:solidFill>
          <a:ln w="15875">
            <a:solidFill>
              <a:srgbClr val="D9E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82296" rIns="45720" bIns="18288" rtlCol="0" anchor="ctr"/>
          <a:lstStyle/>
          <a:p>
            <a:pPr algn="ctr"/>
            <a:r>
              <a:rPr sz="2900" b="1">
                <a:solidFill>
                  <a:srgbClr val="17518D"/>
                </a:solidFill>
                <a:latin typeface="Segoe UI"/>
              </a:rPr>
              <a:t>0</a:t>
            </a:r>
          </a:p>
          <a:p>
            <a:pPr algn="ctr"/>
            <a:r>
              <a:rPr sz="1200" b="0">
                <a:solidFill>
                  <a:srgbClr val="10202E"/>
                </a:solidFill>
                <a:latin typeface="Segoe UI"/>
              </a:rPr>
              <a:t>agent approvals</a:t>
            </a:r>
          </a:p>
          <a:p>
            <a:pPr algn="ctr"/>
            <a:r>
              <a:rPr sz="950" b="0">
                <a:solidFill>
                  <a:srgbClr val="4A5B68"/>
                </a:solidFill>
                <a:latin typeface="Segoe UI"/>
              </a:rPr>
              <a:t>people sign, always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6053328"/>
            <a:ext cx="11057839" cy="548640"/>
          </a:xfrm>
          <a:prstGeom prst="roundRect">
            <a:avLst/>
          </a:prstGeom>
          <a:solidFill>
            <a:srgbClr val="EEF6FF"/>
          </a:solidFill>
          <a:ln w="15875">
            <a:solidFill>
              <a:srgbClr val="2A7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8288" rIns="164592" bIns="18288" rtlCol="0" anchor="ctr"/>
          <a:lstStyle/>
          <a:p>
            <a:pPr algn="l"/>
            <a:r>
              <a:rPr sz="1350" b="1">
                <a:solidFill>
                  <a:srgbClr val="17518D"/>
                </a:solidFill>
                <a:latin typeface="Segoe UI"/>
              </a:rPr>
              <a:t>Ask: approve a 2-4 week pilot on one service. Name the human approver for each gate.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110578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7518D"/>
                </a:solidFill>
                <a:latin typeface="Segoe UI"/>
              </a:rPr>
              <a:t>Six agents do the work. A control plane keeps them in the rails.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59536"/>
            <a:ext cx="960120" cy="50800"/>
          </a:xfrm>
          <a:prstGeom prst="rect">
            <a:avLst/>
          </a:prstGeom>
          <a:solidFill>
            <a:srgbClr val="2A7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10578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A5B68"/>
                </a:solidFill>
                <a:latin typeface="Segoe UI"/>
              </a:rPr>
              <a:t>1. Implementation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73952"/>
            <a:ext cx="457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4A5B68"/>
                </a:solidFill>
                <a:latin typeface="Segoe UI"/>
              </a:rPr>
              <a:t>2/5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07008"/>
            <a:ext cx="5486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4A5B68"/>
                </a:solidFill>
                <a:latin typeface="Segoe UI"/>
              </a:rPr>
              <a:t>YOUR TEAMS KEEP WORKING WHERE THEY ALREADY 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81328"/>
            <a:ext cx="539176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400" b="1">
                <a:solidFill>
                  <a:srgbClr val="17518D"/>
                </a:solidFill>
                <a:latin typeface="Segoe UI"/>
              </a:rPr>
              <a:t>Jira Cloud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8" y="1481328"/>
            <a:ext cx="539176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400" b="1">
                <a:solidFill>
                  <a:srgbClr val="17518D"/>
                </a:solidFill>
                <a:latin typeface="Segoe UI"/>
              </a:rPr>
              <a:t>GitHub</a:t>
            </a:r>
          </a:p>
        </p:txBody>
      </p:sp>
      <p:sp>
        <p:nvSpPr>
          <p:cNvPr id="9" name="Down Arrow 8"/>
          <p:cNvSpPr/>
          <p:nvPr/>
        </p:nvSpPr>
        <p:spPr>
          <a:xfrm>
            <a:off x="6004408" y="2176272"/>
            <a:ext cx="182880" cy="274320"/>
          </a:xfrm>
          <a:prstGeom prst="downArrow">
            <a:avLst/>
          </a:prstGeom>
          <a:solidFill>
            <a:srgbClr val="8FB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66928" y="2487168"/>
            <a:ext cx="11057839" cy="749808"/>
          </a:xfrm>
          <a:prstGeom prst="roundRect">
            <a:avLst/>
          </a:prstGeom>
          <a:solidFill>
            <a:srgbClr val="17518D"/>
          </a:solidFill>
          <a:ln w="19050">
            <a:solidFill>
              <a:srgbClr val="1751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" y="2578608"/>
            <a:ext cx="2743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CONTROL PLANE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47288" y="2587752"/>
            <a:ext cx="2555138" cy="548640"/>
          </a:xfrm>
          <a:prstGeom prst="roundRect">
            <a:avLst/>
          </a:prstGeom>
          <a:solidFill>
            <a:srgbClr val="1F66B0"/>
          </a:solidFill>
          <a:ln w="12700">
            <a:solidFill>
              <a:srgbClr val="2A7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Workflow engine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Segoe UI"/>
              </a:rPr>
              <a:t>state • retries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7018" y="2587752"/>
            <a:ext cx="2555138" cy="548640"/>
          </a:xfrm>
          <a:prstGeom prst="roundRect">
            <a:avLst/>
          </a:prstGeom>
          <a:solidFill>
            <a:srgbClr val="1F66B0"/>
          </a:solidFill>
          <a:ln w="12700">
            <a:solidFill>
              <a:srgbClr val="2A7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Policy &amp; budgets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Segoe UI"/>
              </a:rPr>
              <a:t>rules • caps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86749" y="2587752"/>
            <a:ext cx="2555138" cy="548640"/>
          </a:xfrm>
          <a:prstGeom prst="roundRect">
            <a:avLst/>
          </a:prstGeom>
          <a:solidFill>
            <a:srgbClr val="1F66B0"/>
          </a:solidFill>
          <a:ln w="12700">
            <a:solidFill>
              <a:srgbClr val="2A7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Evidence ledger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Segoe UI"/>
              </a:rPr>
              <a:t>one audit trail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6004408" y="3273552"/>
            <a:ext cx="182880" cy="201168"/>
          </a:xfrm>
          <a:prstGeom prst="downArrow">
            <a:avLst/>
          </a:prstGeom>
          <a:solidFill>
            <a:srgbClr val="8FB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" y="3236976"/>
            <a:ext cx="5852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4A5B68"/>
                </a:solidFill>
                <a:latin typeface="Segoe UI"/>
              </a:rPr>
              <a:t>SIX NARROW AGENTS - EACH WITH ITS OWN LEAST-PRIVILEGE ACCESS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511296"/>
            <a:ext cx="1721053" cy="786384"/>
          </a:xfrm>
          <a:prstGeom prst="roundRect">
            <a:avLst/>
          </a:prstGeom>
          <a:solidFill>
            <a:srgbClr val="D9EBFF"/>
          </a:solidFill>
          <a:ln w="12700">
            <a:solidFill>
              <a:srgbClr val="1F6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>
                <a:solidFill>
                  <a:srgbClr val="17518D"/>
                </a:solidFill>
                <a:latin typeface="Segoe UI"/>
              </a:rPr>
              <a:t>Planner</a:t>
            </a:r>
          </a:p>
          <a:p>
            <a:pPr algn="ctr"/>
            <a:r>
              <a:rPr sz="950" b="0">
                <a:solidFill>
                  <a:srgbClr val="17518D"/>
                </a:solidFill>
                <a:latin typeface="Segoe UI"/>
              </a:rPr>
              <a:t>breaks it down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34285" y="3511296"/>
            <a:ext cx="1721053" cy="786384"/>
          </a:xfrm>
          <a:prstGeom prst="roundRect">
            <a:avLst/>
          </a:prstGeom>
          <a:solidFill>
            <a:srgbClr val="D9EBFF"/>
          </a:solidFill>
          <a:ln w="12700">
            <a:solidFill>
              <a:srgbClr val="1F6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>
                <a:solidFill>
                  <a:srgbClr val="17518D"/>
                </a:solidFill>
                <a:latin typeface="Segoe UI"/>
              </a:rPr>
              <a:t>Jira</a:t>
            </a:r>
          </a:p>
          <a:p>
            <a:pPr algn="ctr"/>
            <a:r>
              <a:rPr sz="950" b="0">
                <a:solidFill>
                  <a:srgbClr val="17518D"/>
                </a:solidFill>
                <a:latin typeface="Segoe UI"/>
              </a:rPr>
              <a:t>keeps the board true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01642" y="3511296"/>
            <a:ext cx="1721053" cy="786384"/>
          </a:xfrm>
          <a:prstGeom prst="roundRect">
            <a:avLst/>
          </a:prstGeom>
          <a:solidFill>
            <a:srgbClr val="D9EBFF"/>
          </a:solidFill>
          <a:ln w="12700">
            <a:solidFill>
              <a:srgbClr val="1F6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>
                <a:solidFill>
                  <a:srgbClr val="17518D"/>
                </a:solidFill>
                <a:latin typeface="Segoe UI"/>
              </a:rPr>
              <a:t>Coding</a:t>
            </a:r>
          </a:p>
          <a:p>
            <a:pPr algn="ctr"/>
            <a:r>
              <a:rPr sz="950" b="0">
                <a:solidFill>
                  <a:srgbClr val="17518D"/>
                </a:solidFill>
                <a:latin typeface="Segoe UI"/>
              </a:rPr>
              <a:t>writes the code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9000" y="3511296"/>
            <a:ext cx="1721053" cy="786384"/>
          </a:xfrm>
          <a:prstGeom prst="roundRect">
            <a:avLst/>
          </a:prstGeom>
          <a:solidFill>
            <a:srgbClr val="D9EBFF"/>
          </a:solidFill>
          <a:ln w="12700">
            <a:solidFill>
              <a:srgbClr val="1F6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>
                <a:solidFill>
                  <a:srgbClr val="17518D"/>
                </a:solidFill>
                <a:latin typeface="Segoe UI"/>
              </a:rPr>
              <a:t>Testing</a:t>
            </a:r>
          </a:p>
          <a:p>
            <a:pPr algn="ctr"/>
            <a:r>
              <a:rPr sz="950" b="0">
                <a:solidFill>
                  <a:srgbClr val="17518D"/>
                </a:solidFill>
                <a:latin typeface="Segoe UI"/>
              </a:rPr>
              <a:t>proves it works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36357" y="3511296"/>
            <a:ext cx="1721053" cy="786384"/>
          </a:xfrm>
          <a:prstGeom prst="roundRect">
            <a:avLst/>
          </a:prstGeom>
          <a:solidFill>
            <a:srgbClr val="D9EBFF"/>
          </a:solidFill>
          <a:ln w="12700">
            <a:solidFill>
              <a:srgbClr val="1F6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>
                <a:solidFill>
                  <a:srgbClr val="17518D"/>
                </a:solidFill>
                <a:latin typeface="Segoe UI"/>
              </a:rPr>
              <a:t>Release</a:t>
            </a:r>
          </a:p>
          <a:p>
            <a:pPr algn="ctr"/>
            <a:r>
              <a:rPr sz="950" b="0">
                <a:solidFill>
                  <a:srgbClr val="17518D"/>
                </a:solidFill>
                <a:latin typeface="Segoe UI"/>
              </a:rPr>
              <a:t>ships to dev &amp; QA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03714" y="3511296"/>
            <a:ext cx="1721053" cy="786384"/>
          </a:xfrm>
          <a:prstGeom prst="roundRect">
            <a:avLst/>
          </a:prstGeom>
          <a:solidFill>
            <a:srgbClr val="D9EBFF"/>
          </a:solidFill>
          <a:ln w="12700">
            <a:solidFill>
              <a:srgbClr val="1F6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>
                <a:solidFill>
                  <a:srgbClr val="17518D"/>
                </a:solidFill>
                <a:latin typeface="Segoe UI"/>
              </a:rPr>
              <a:t>Validation</a:t>
            </a:r>
          </a:p>
          <a:p>
            <a:pPr algn="ctr"/>
            <a:r>
              <a:rPr sz="950" b="0">
                <a:solidFill>
                  <a:srgbClr val="17518D"/>
                </a:solidFill>
                <a:latin typeface="Segoe UI"/>
              </a:rPr>
              <a:t>checks the evidence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004408" y="4389120"/>
            <a:ext cx="182880" cy="274320"/>
          </a:xfrm>
          <a:prstGeom prst="downArrow">
            <a:avLst/>
          </a:prstGeom>
          <a:solidFill>
            <a:srgbClr val="8FB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66928" y="4864608"/>
            <a:ext cx="11057839" cy="566928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B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>
                <a:solidFill>
                  <a:srgbClr val="4A5B68"/>
                </a:solidFill>
                <a:latin typeface="Segoe UI"/>
              </a:rPr>
              <a:t>RUNS ON:   containers that scale to zero   •   managed database   •   object storage   •   secrets vault   •   full telemetry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5687568"/>
            <a:ext cx="11057839" cy="548640"/>
          </a:xfrm>
          <a:prstGeom prst="roundRect">
            <a:avLst/>
          </a:prstGeom>
          <a:solidFill>
            <a:srgbClr val="EEF6FF"/>
          </a:solidFill>
          <a:ln w="15875">
            <a:solidFill>
              <a:srgbClr val="2A7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8288" rIns="164592" bIns="18288" rtlCol="0" anchor="ctr"/>
          <a:lstStyle/>
          <a:p>
            <a:pPr algn="l"/>
            <a:r>
              <a:rPr sz="1350" b="1">
                <a:solidFill>
                  <a:srgbClr val="17518D"/>
                </a:solidFill>
                <a:latin typeface="Segoe UI"/>
              </a:rPr>
              <a:t>No model ever touches Jira, the repository or an environment directly - every action is a permission-checked tool call.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110578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7518D"/>
                </a:solidFill>
                <a:latin typeface="Segoe UI"/>
              </a:rPr>
              <a:t>Nine steps. Five human gates. Nothing closes without evidence.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59536"/>
            <a:ext cx="960120" cy="50800"/>
          </a:xfrm>
          <a:prstGeom prst="rect">
            <a:avLst/>
          </a:prstGeom>
          <a:solidFill>
            <a:srgbClr val="2A7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10578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A5B68"/>
                </a:solidFill>
                <a:latin typeface="Segoe UI"/>
              </a:rPr>
              <a:t>2. End-to-end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73952"/>
            <a:ext cx="457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4A5B68"/>
                </a:solidFill>
                <a:latin typeface="Segoe UI"/>
              </a:rPr>
              <a:t>3/5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34033" y="1572768"/>
            <a:ext cx="1533449" cy="475488"/>
          </a:xfrm>
          <a:prstGeom prst="roundRect">
            <a:avLst/>
          </a:prstGeom>
          <a:solidFill>
            <a:srgbClr val="FDF4E3"/>
          </a:solidFill>
          <a:ln w="12700">
            <a:solidFill>
              <a:srgbClr val="B56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>
                <a:solidFill>
                  <a:srgbClr val="B56A0B"/>
                </a:solidFill>
                <a:latin typeface="Segoe UI"/>
              </a:rPr>
              <a:t>G1  Backlog agreed</a:t>
            </a:r>
          </a:p>
        </p:txBody>
      </p:sp>
      <p:sp>
        <p:nvSpPr>
          <p:cNvPr id="7" name="Down Arrow 6"/>
          <p:cNvSpPr/>
          <p:nvPr/>
        </p:nvSpPr>
        <p:spPr>
          <a:xfrm>
            <a:off x="2373325" y="2084831"/>
            <a:ext cx="164592" cy="256032"/>
          </a:xfrm>
          <a:prstGeom prst="downArrow">
            <a:avLst/>
          </a:prstGeom>
          <a:solidFill>
            <a:srgbClr val="E09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060850" y="1572768"/>
            <a:ext cx="1533449" cy="475488"/>
          </a:xfrm>
          <a:prstGeom prst="roundRect">
            <a:avLst/>
          </a:prstGeom>
          <a:solidFill>
            <a:srgbClr val="FDF4E3"/>
          </a:solidFill>
          <a:ln w="12700">
            <a:solidFill>
              <a:srgbClr val="B56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>
                <a:solidFill>
                  <a:srgbClr val="B56A0B"/>
                </a:solidFill>
                <a:latin typeface="Segoe UI"/>
              </a:rPr>
              <a:t>G2  Story ready</a:t>
            </a:r>
          </a:p>
        </p:txBody>
      </p:sp>
      <p:sp>
        <p:nvSpPr>
          <p:cNvPr id="9" name="Down Arrow 8"/>
          <p:cNvSpPr/>
          <p:nvPr/>
        </p:nvSpPr>
        <p:spPr>
          <a:xfrm>
            <a:off x="4800143" y="2084831"/>
            <a:ext cx="164592" cy="256032"/>
          </a:xfrm>
          <a:prstGeom prst="downArrow">
            <a:avLst/>
          </a:prstGeom>
          <a:solidFill>
            <a:srgbClr val="E09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274259" y="1572768"/>
            <a:ext cx="1533449" cy="475488"/>
          </a:xfrm>
          <a:prstGeom prst="roundRect">
            <a:avLst/>
          </a:prstGeom>
          <a:solidFill>
            <a:srgbClr val="FDF4E3"/>
          </a:solidFill>
          <a:ln w="12700">
            <a:solidFill>
              <a:srgbClr val="B56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>
                <a:solidFill>
                  <a:srgbClr val="B56A0B"/>
                </a:solidFill>
                <a:latin typeface="Segoe UI"/>
              </a:rPr>
              <a:t>G3  Merge the PR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6013552" y="2084831"/>
            <a:ext cx="164592" cy="256032"/>
          </a:xfrm>
          <a:prstGeom prst="downArrow">
            <a:avLst/>
          </a:prstGeom>
          <a:solidFill>
            <a:srgbClr val="E09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701077" y="1572768"/>
            <a:ext cx="1533449" cy="475488"/>
          </a:xfrm>
          <a:prstGeom prst="roundRect">
            <a:avLst/>
          </a:prstGeom>
          <a:solidFill>
            <a:srgbClr val="FDF4E3"/>
          </a:solidFill>
          <a:ln w="12700">
            <a:solidFill>
              <a:srgbClr val="B56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>
                <a:solidFill>
                  <a:srgbClr val="B56A0B"/>
                </a:solidFill>
                <a:latin typeface="Segoe UI"/>
              </a:rPr>
              <a:t>G4  Promote to QA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8440369" y="2084831"/>
            <a:ext cx="164592" cy="256032"/>
          </a:xfrm>
          <a:prstGeom prst="downArrow">
            <a:avLst/>
          </a:prstGeom>
          <a:solidFill>
            <a:srgbClr val="E09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127894" y="1572768"/>
            <a:ext cx="1533449" cy="475488"/>
          </a:xfrm>
          <a:prstGeom prst="roundRect">
            <a:avLst/>
          </a:prstGeom>
          <a:solidFill>
            <a:srgbClr val="FDF4E3"/>
          </a:solidFill>
          <a:ln w="12700">
            <a:solidFill>
              <a:srgbClr val="B56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>
                <a:solidFill>
                  <a:srgbClr val="B56A0B"/>
                </a:solidFill>
                <a:latin typeface="Segoe UI"/>
              </a:rPr>
              <a:t>G5  Close the story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10867187" y="2084831"/>
            <a:ext cx="164592" cy="256032"/>
          </a:xfrm>
          <a:prstGeom prst="downArrow">
            <a:avLst/>
          </a:prstGeom>
          <a:solidFill>
            <a:srgbClr val="E09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" y="1316736"/>
            <a:ext cx="11057839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B56A0B"/>
                </a:solidFill>
                <a:latin typeface="Segoe UI"/>
              </a:rPr>
              <a:t>A NAMED PERSON MUST SIGN HERE</a:t>
            </a:r>
          </a:p>
        </p:txBody>
      </p:sp>
      <p:sp>
        <p:nvSpPr>
          <p:cNvPr id="17" name="Chevron 16"/>
          <p:cNvSpPr/>
          <p:nvPr/>
        </p:nvSpPr>
        <p:spPr>
          <a:xfrm>
            <a:off x="566928" y="2395728"/>
            <a:ext cx="1350569" cy="841248"/>
          </a:xfrm>
          <a:prstGeom prst="chevron">
            <a:avLst/>
          </a:prstGeom>
          <a:solidFill>
            <a:srgbClr val="1F66B0"/>
          </a:solidFill>
          <a:ln w="15875">
            <a:solidFill>
              <a:srgbClr val="1F6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Intake</a:t>
            </a:r>
          </a:p>
        </p:txBody>
      </p:sp>
      <p:sp>
        <p:nvSpPr>
          <p:cNvPr id="18" name="Chevron 17"/>
          <p:cNvSpPr/>
          <p:nvPr/>
        </p:nvSpPr>
        <p:spPr>
          <a:xfrm>
            <a:off x="1780337" y="2395728"/>
            <a:ext cx="1350569" cy="841248"/>
          </a:xfrm>
          <a:prstGeom prst="chevron">
            <a:avLst/>
          </a:prstGeom>
          <a:solidFill>
            <a:srgbClr val="FFFFFF"/>
          </a:solidFill>
          <a:ln w="15875">
            <a:solidFill>
              <a:srgbClr val="1F6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>
                <a:solidFill>
                  <a:srgbClr val="10202E"/>
                </a:solidFill>
                <a:latin typeface="Segoe UI"/>
              </a:rPr>
              <a:t>Decompose</a:t>
            </a:r>
          </a:p>
        </p:txBody>
      </p:sp>
      <p:sp>
        <p:nvSpPr>
          <p:cNvPr id="19" name="Chevron 18"/>
          <p:cNvSpPr/>
          <p:nvPr/>
        </p:nvSpPr>
        <p:spPr>
          <a:xfrm>
            <a:off x="2993746" y="2395728"/>
            <a:ext cx="1350569" cy="841248"/>
          </a:xfrm>
          <a:prstGeom prst="chevron">
            <a:avLst/>
          </a:prstGeom>
          <a:solidFill>
            <a:srgbClr val="FFFFFF"/>
          </a:solidFill>
          <a:ln w="15875">
            <a:solidFill>
              <a:srgbClr val="1F6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>
                <a:solidFill>
                  <a:srgbClr val="10202E"/>
                </a:solidFill>
                <a:latin typeface="Segoe UI"/>
              </a:rPr>
              <a:t>Backlog</a:t>
            </a:r>
          </a:p>
        </p:txBody>
      </p:sp>
      <p:sp>
        <p:nvSpPr>
          <p:cNvPr id="20" name="Chevron 19"/>
          <p:cNvSpPr/>
          <p:nvPr/>
        </p:nvSpPr>
        <p:spPr>
          <a:xfrm>
            <a:off x="4207154" y="2395728"/>
            <a:ext cx="1350569" cy="841248"/>
          </a:xfrm>
          <a:prstGeom prst="chevron">
            <a:avLst/>
          </a:prstGeom>
          <a:solidFill>
            <a:srgbClr val="FFFFFF"/>
          </a:solidFill>
          <a:ln w="15875">
            <a:solidFill>
              <a:srgbClr val="1F6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>
                <a:solidFill>
                  <a:srgbClr val="10202E"/>
                </a:solidFill>
                <a:latin typeface="Segoe UI"/>
              </a:rPr>
              <a:t>Select</a:t>
            </a:r>
          </a:p>
        </p:txBody>
      </p:sp>
      <p:sp>
        <p:nvSpPr>
          <p:cNvPr id="21" name="Chevron 20"/>
          <p:cNvSpPr/>
          <p:nvPr/>
        </p:nvSpPr>
        <p:spPr>
          <a:xfrm>
            <a:off x="5420563" y="2395728"/>
            <a:ext cx="1350569" cy="841248"/>
          </a:xfrm>
          <a:prstGeom prst="chevron">
            <a:avLst/>
          </a:prstGeom>
          <a:solidFill>
            <a:srgbClr val="FFFFFF"/>
          </a:solidFill>
          <a:ln w="15875">
            <a:solidFill>
              <a:srgbClr val="1F6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>
                <a:solidFill>
                  <a:srgbClr val="10202E"/>
                </a:solidFill>
                <a:latin typeface="Segoe UI"/>
              </a:rPr>
              <a:t>Implement</a:t>
            </a:r>
          </a:p>
        </p:txBody>
      </p:sp>
      <p:sp>
        <p:nvSpPr>
          <p:cNvPr id="22" name="Chevron 21"/>
          <p:cNvSpPr/>
          <p:nvPr/>
        </p:nvSpPr>
        <p:spPr>
          <a:xfrm>
            <a:off x="6633972" y="2395728"/>
            <a:ext cx="1350569" cy="841248"/>
          </a:xfrm>
          <a:prstGeom prst="chevron">
            <a:avLst/>
          </a:prstGeom>
          <a:solidFill>
            <a:srgbClr val="FFFFFF"/>
          </a:solidFill>
          <a:ln w="15875">
            <a:solidFill>
              <a:srgbClr val="1F6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>
                <a:solidFill>
                  <a:srgbClr val="10202E"/>
                </a:solidFill>
                <a:latin typeface="Segoe UI"/>
              </a:rPr>
              <a:t>Test</a:t>
            </a:r>
          </a:p>
        </p:txBody>
      </p:sp>
      <p:sp>
        <p:nvSpPr>
          <p:cNvPr id="23" name="Chevron 22"/>
          <p:cNvSpPr/>
          <p:nvPr/>
        </p:nvSpPr>
        <p:spPr>
          <a:xfrm>
            <a:off x="7847381" y="2395728"/>
            <a:ext cx="1350569" cy="841248"/>
          </a:xfrm>
          <a:prstGeom prst="chevron">
            <a:avLst/>
          </a:prstGeom>
          <a:solidFill>
            <a:srgbClr val="FFFFFF"/>
          </a:solidFill>
          <a:ln w="15875">
            <a:solidFill>
              <a:srgbClr val="1F6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>
                <a:solidFill>
                  <a:srgbClr val="10202E"/>
                </a:solidFill>
                <a:latin typeface="Segoe UI"/>
              </a:rPr>
              <a:t>CI/CD</a:t>
            </a:r>
          </a:p>
        </p:txBody>
      </p:sp>
      <p:sp>
        <p:nvSpPr>
          <p:cNvPr id="24" name="Chevron 23"/>
          <p:cNvSpPr/>
          <p:nvPr/>
        </p:nvSpPr>
        <p:spPr>
          <a:xfrm>
            <a:off x="9060789" y="2395728"/>
            <a:ext cx="1350569" cy="841248"/>
          </a:xfrm>
          <a:prstGeom prst="chevron">
            <a:avLst/>
          </a:prstGeom>
          <a:solidFill>
            <a:srgbClr val="FFFFFF"/>
          </a:solidFill>
          <a:ln w="15875">
            <a:solidFill>
              <a:srgbClr val="1F6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>
                <a:solidFill>
                  <a:srgbClr val="10202E"/>
                </a:solidFill>
                <a:latin typeface="Segoe UI"/>
              </a:rPr>
              <a:t>Validate</a:t>
            </a:r>
          </a:p>
        </p:txBody>
      </p:sp>
      <p:sp>
        <p:nvSpPr>
          <p:cNvPr id="25" name="Chevron 24"/>
          <p:cNvSpPr/>
          <p:nvPr/>
        </p:nvSpPr>
        <p:spPr>
          <a:xfrm>
            <a:off x="10274198" y="2395728"/>
            <a:ext cx="1350569" cy="841248"/>
          </a:xfrm>
          <a:prstGeom prst="chevron">
            <a:avLst/>
          </a:prstGeom>
          <a:solidFill>
            <a:srgbClr val="1F66B0"/>
          </a:solidFill>
          <a:ln w="15875">
            <a:solidFill>
              <a:srgbClr val="1F6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Close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529584"/>
            <a:ext cx="11057839" cy="512064"/>
          </a:xfrm>
          <a:prstGeom prst="roundRect">
            <a:avLst/>
          </a:prstGeom>
          <a:solidFill>
            <a:srgbClr val="EEF6FF"/>
          </a:solidFill>
          <a:ln w="15875">
            <a:solidFill>
              <a:srgbClr val="2A7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50" b="1">
                <a:solidFill>
                  <a:srgbClr val="17518D"/>
                </a:solidFill>
                <a:latin typeface="Segoe UI"/>
              </a:rPr>
              <a:t>ONE AUDIT TRAIL:   requirement  →  story  →  acceptance criterion  →  test  →  build  →  deployment  →  sign-off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4261104"/>
            <a:ext cx="11057839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4A5B68"/>
                </a:solidFill>
                <a:latin typeface="Segoe UI"/>
              </a:rPr>
              <a:t>EVERY GATE OPENS ONLY WHEN THIS IS ATTACHED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553712"/>
            <a:ext cx="2586152" cy="93268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FB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>
                <a:solidFill>
                  <a:srgbClr val="17518D"/>
                </a:solidFill>
                <a:latin typeface="Segoe UI"/>
              </a:rPr>
              <a:t>CODE</a:t>
            </a:r>
          </a:p>
          <a:p>
            <a:pPr algn="ctr"/>
            <a:r>
              <a:rPr sz="1000" b="0">
                <a:solidFill>
                  <a:srgbClr val="17518D"/>
                </a:solidFill>
                <a:latin typeface="Segoe UI"/>
              </a:rPr>
              <a:t>Pull request, commit,</a:t>
            </a:r>
          </a:p>
          <a:p>
            <a:pPr algn="ctr"/>
            <a:r>
              <a:rPr sz="1000" b="0">
                <a:solidFill>
                  <a:srgbClr val="17518D"/>
                </a:solidFill>
                <a:latin typeface="Segoe UI"/>
              </a:rPr>
              <a:t>green build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90824" y="4553712"/>
            <a:ext cx="2586152" cy="93268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FB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>
                <a:solidFill>
                  <a:srgbClr val="17518D"/>
                </a:solidFill>
                <a:latin typeface="Segoe UI"/>
              </a:rPr>
              <a:t>TESTS</a:t>
            </a:r>
          </a:p>
          <a:p>
            <a:pPr algn="ctr"/>
            <a:r>
              <a:rPr sz="1000" b="0">
                <a:solidFill>
                  <a:srgbClr val="17518D"/>
                </a:solidFill>
                <a:latin typeface="Segoe UI"/>
              </a:rPr>
              <a:t>A passing test for every</a:t>
            </a:r>
          </a:p>
          <a:p>
            <a:pPr algn="ctr"/>
            <a:r>
              <a:rPr sz="1000" b="0">
                <a:solidFill>
                  <a:srgbClr val="17518D"/>
                </a:solidFill>
                <a:latin typeface="Segoe UI"/>
              </a:rPr>
              <a:t>acceptance criterion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4720" y="4553712"/>
            <a:ext cx="2586152" cy="93268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FB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>
                <a:solidFill>
                  <a:srgbClr val="17518D"/>
                </a:solidFill>
                <a:latin typeface="Segoe UI"/>
              </a:rPr>
              <a:t>DEPLOYMENT</a:t>
            </a:r>
          </a:p>
          <a:p>
            <a:pPr algn="ctr"/>
            <a:r>
              <a:rPr sz="1000" b="0">
                <a:solidFill>
                  <a:srgbClr val="17518D"/>
                </a:solidFill>
                <a:latin typeface="Segoe UI"/>
              </a:rPr>
              <a:t>Dev and QA runs with</a:t>
            </a:r>
          </a:p>
          <a:p>
            <a:pPr algn="ctr"/>
            <a:r>
              <a:rPr sz="1000" b="0">
                <a:solidFill>
                  <a:srgbClr val="17518D"/>
                </a:solidFill>
                <a:latin typeface="Segoe UI"/>
              </a:rPr>
              <a:t>smoke checks passed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38615" y="4553712"/>
            <a:ext cx="2586152" cy="93268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FB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>
                <a:solidFill>
                  <a:srgbClr val="17518D"/>
                </a:solidFill>
                <a:latin typeface="Segoe UI"/>
              </a:rPr>
              <a:t>SIGN-OFF</a:t>
            </a:r>
          </a:p>
          <a:p>
            <a:pPr algn="ctr"/>
            <a:r>
              <a:rPr sz="1000" b="0">
                <a:solidFill>
                  <a:srgbClr val="17518D"/>
                </a:solidFill>
                <a:latin typeface="Segoe UI"/>
              </a:rPr>
              <a:t>Named approver, time</a:t>
            </a:r>
          </a:p>
          <a:p>
            <a:pPr algn="ctr"/>
            <a:r>
              <a:rPr sz="1000" b="0">
                <a:solidFill>
                  <a:srgbClr val="17518D"/>
                </a:solidFill>
                <a:latin typeface="Segoe UI"/>
              </a:rPr>
              <a:t>and reason recorded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053328"/>
            <a:ext cx="11057839" cy="548640"/>
          </a:xfrm>
          <a:prstGeom prst="roundRect">
            <a:avLst/>
          </a:prstGeom>
          <a:solidFill>
            <a:srgbClr val="FDF4E3"/>
          </a:solidFill>
          <a:ln w="15875">
            <a:solidFill>
              <a:srgbClr val="B56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8288" rIns="164592" bIns="18288" rtlCol="0" anchor="ctr"/>
          <a:lstStyle/>
          <a:p>
            <a:pPr algn="l"/>
            <a:r>
              <a:rPr sz="1350" b="1">
                <a:solidFill>
                  <a:srgbClr val="B56A0B"/>
                </a:solidFill>
                <a:latin typeface="Segoe UI"/>
              </a:rPr>
              <a:t>Agents prepare and execute. They cannot approve, self-approve or skip a gate - that permission belongs only to people.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110578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dirty="0">
                <a:solidFill>
                  <a:srgbClr val="17518D"/>
                </a:solidFill>
                <a:latin typeface="Segoe UI"/>
              </a:rPr>
              <a:t>Build it once for $179. Then about $11.80 a story.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59536"/>
            <a:ext cx="960120" cy="50800"/>
          </a:xfrm>
          <a:prstGeom prst="rect">
            <a:avLst/>
          </a:prstGeom>
          <a:solidFill>
            <a:srgbClr val="2A7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10578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A5B68"/>
                </a:solidFill>
                <a:latin typeface="Segoe UI"/>
              </a:rPr>
              <a:t>3. Implementation cost and 4. execution cost, measured in model tokens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73952"/>
            <a:ext cx="457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4A5B68"/>
                </a:solidFill>
                <a:latin typeface="Segoe UI"/>
              </a:rPr>
              <a:t>4/5</a:t>
            </a:r>
          </a:p>
        </p:txBody>
      </p:sp>
      <p:sp>
        <p:nvSpPr>
          <p:cNvPr id="6" name="Rectangle 5"/>
          <p:cNvSpPr/>
          <p:nvPr/>
        </p:nvSpPr>
        <p:spPr>
          <a:xfrm>
            <a:off x="6082132" y="1481328"/>
            <a:ext cx="15240" cy="3063240"/>
          </a:xfrm>
          <a:prstGeom prst="rect">
            <a:avLst/>
          </a:prstGeom>
          <a:solidFill>
            <a:srgbClr val="DB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52774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4A5B68"/>
                </a:solidFill>
                <a:latin typeface="Segoe UI"/>
              </a:rPr>
              <a:t>3.  BUILD THE SYSTEM  -  ONE OFF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55648"/>
            <a:ext cx="52774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17518D"/>
                </a:solidFill>
                <a:latin typeface="Segoe UI"/>
              </a:rPr>
              <a:t>$179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8568" y="1956816"/>
            <a:ext cx="35401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dirty="0">
                <a:solidFill>
                  <a:srgbClr val="4A5B68"/>
                </a:solidFill>
                <a:latin typeface="Segoe UI"/>
              </a:rPr>
              <a:t>30.4M tokens across</a:t>
            </a:r>
          </a:p>
          <a:p>
            <a:pPr algn="l">
              <a:spcAft>
                <a:spcPts val="0"/>
              </a:spcAft>
            </a:pPr>
            <a:r>
              <a:rPr sz="1100" b="0" dirty="0">
                <a:solidFill>
                  <a:srgbClr val="4A5B68"/>
                </a:solidFill>
                <a:latin typeface="Segoe UI"/>
              </a:rPr>
              <a:t>~490 agent sessions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436876"/>
            <a:ext cx="2216533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0202E"/>
                </a:solidFill>
                <a:latin typeface="Segoe UI"/>
              </a:rPr>
              <a:t>Six specialist agents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74901" y="2450592"/>
            <a:ext cx="2164815" cy="274320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74901" y="2450592"/>
            <a:ext cx="2164815" cy="274320"/>
          </a:xfrm>
          <a:prstGeom prst="rect">
            <a:avLst/>
          </a:prstGeom>
          <a:solidFill>
            <a:srgbClr val="1F6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31156" y="2436876"/>
            <a:ext cx="71323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1">
                <a:solidFill>
                  <a:srgbClr val="17518D"/>
                </a:solidFill>
                <a:latin typeface="Segoe UI"/>
              </a:rPr>
              <a:t>$81.48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852928"/>
            <a:ext cx="2216533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0202E"/>
                </a:solidFill>
                <a:latin typeface="Segoe UI"/>
              </a:rPr>
              <a:t>Control plane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74901" y="2866644"/>
            <a:ext cx="2164815" cy="274320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874901" y="2866644"/>
            <a:ext cx="956472" cy="274320"/>
          </a:xfrm>
          <a:prstGeom prst="rect">
            <a:avLst/>
          </a:prstGeom>
          <a:solidFill>
            <a:srgbClr val="1F6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31156" y="2852928"/>
            <a:ext cx="71323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1">
                <a:solidFill>
                  <a:srgbClr val="17518D"/>
                </a:solidFill>
                <a:latin typeface="Segoe UI"/>
              </a:rPr>
              <a:t>$36.00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268980"/>
            <a:ext cx="2216533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0202E"/>
                </a:solidFill>
                <a:latin typeface="Segoe UI"/>
              </a:rPr>
              <a:t>Docs, runbooks, evals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74901" y="3282696"/>
            <a:ext cx="2164815" cy="274320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874901" y="3282696"/>
            <a:ext cx="318824" cy="274320"/>
          </a:xfrm>
          <a:prstGeom prst="rect">
            <a:avLst/>
          </a:prstGeom>
          <a:solidFill>
            <a:srgbClr val="1F6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31156" y="3268980"/>
            <a:ext cx="71323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1">
                <a:solidFill>
                  <a:srgbClr val="17518D"/>
                </a:solidFill>
                <a:latin typeface="Segoe UI"/>
              </a:rPr>
              <a:t>$12.00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685032"/>
            <a:ext cx="2216533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0202E"/>
                </a:solidFill>
                <a:latin typeface="Segoe UI"/>
              </a:rPr>
              <a:t>CI/CD and environments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74901" y="3698748"/>
            <a:ext cx="2164815" cy="274320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874901" y="3698748"/>
            <a:ext cx="223177" cy="274320"/>
          </a:xfrm>
          <a:prstGeom prst="rect">
            <a:avLst/>
          </a:prstGeom>
          <a:solidFill>
            <a:srgbClr val="1F6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131156" y="3685032"/>
            <a:ext cx="71323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1">
                <a:solidFill>
                  <a:srgbClr val="17518D"/>
                </a:solidFill>
                <a:latin typeface="Segoe UI"/>
              </a:rPr>
              <a:t>$8.40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7308" y="1481328"/>
            <a:ext cx="52774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4A5B68"/>
                </a:solidFill>
                <a:latin typeface="Segoe UI"/>
              </a:rPr>
              <a:t>4.  RUN ONE STORY  -  EVERY 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7308" y="1755648"/>
            <a:ext cx="52774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17518D"/>
                </a:solidFill>
                <a:latin typeface="Segoe UI"/>
              </a:rPr>
              <a:t>$11.80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63841" y="1883664"/>
            <a:ext cx="38144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dirty="0">
                <a:solidFill>
                  <a:srgbClr val="4A5B68"/>
                </a:solidFill>
                <a:latin typeface="Segoe UI"/>
              </a:rPr>
              <a:t>2.2M tokens from intake</a:t>
            </a:r>
          </a:p>
          <a:p>
            <a:pPr algn="l">
              <a:spcAft>
                <a:spcPts val="0"/>
              </a:spcAft>
            </a:pPr>
            <a:r>
              <a:rPr sz="1100" b="0" dirty="0">
                <a:solidFill>
                  <a:srgbClr val="4A5B68"/>
                </a:solidFill>
                <a:latin typeface="Segoe UI"/>
              </a:rPr>
              <a:t>through to closure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47308" y="2436876"/>
            <a:ext cx="2216533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0202E"/>
                </a:solidFill>
                <a:latin typeface="Segoe UI"/>
              </a:rPr>
              <a:t>Writing the code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55280" y="2450592"/>
            <a:ext cx="2164815" cy="274320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655280" y="2450592"/>
            <a:ext cx="2164815" cy="274320"/>
          </a:xfrm>
          <a:prstGeom prst="rect">
            <a:avLst/>
          </a:prstGeom>
          <a:solidFill>
            <a:srgbClr val="2A7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911535" y="2436876"/>
            <a:ext cx="71323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1">
                <a:solidFill>
                  <a:srgbClr val="17518D"/>
                </a:solidFill>
                <a:latin typeface="Segoe UI"/>
              </a:rPr>
              <a:t>$4.95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47308" y="2852928"/>
            <a:ext cx="2216533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0202E"/>
                </a:solidFill>
                <a:latin typeface="Segoe UI"/>
              </a:rPr>
              <a:t>Tests and CI fixes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55280" y="2866644"/>
            <a:ext cx="2164815" cy="274320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655280" y="2866644"/>
            <a:ext cx="1279209" cy="274320"/>
          </a:xfrm>
          <a:prstGeom prst="rect">
            <a:avLst/>
          </a:prstGeom>
          <a:solidFill>
            <a:srgbClr val="2A7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911535" y="2852928"/>
            <a:ext cx="71323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1">
                <a:solidFill>
                  <a:srgbClr val="17518D"/>
                </a:solidFill>
                <a:latin typeface="Segoe UI"/>
              </a:rPr>
              <a:t>$2.92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47308" y="3268980"/>
            <a:ext cx="2216533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0202E"/>
                </a:solidFill>
                <a:latin typeface="Segoe UI"/>
              </a:rPr>
              <a:t>Release and validation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655280" y="3282696"/>
            <a:ext cx="2164815" cy="274320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655280" y="3282696"/>
            <a:ext cx="249282" cy="274320"/>
          </a:xfrm>
          <a:prstGeom prst="rect">
            <a:avLst/>
          </a:prstGeom>
          <a:solidFill>
            <a:srgbClr val="2A7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911535" y="3268980"/>
            <a:ext cx="71323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1">
                <a:solidFill>
                  <a:srgbClr val="17518D"/>
                </a:solidFill>
                <a:latin typeface="Segoe UI"/>
              </a:rPr>
              <a:t>$0.57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47308" y="3685032"/>
            <a:ext cx="2216533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0202E"/>
                </a:solidFill>
                <a:latin typeface="Segoe UI"/>
              </a:rPr>
              <a:t>Intake and story prep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55280" y="3698748"/>
            <a:ext cx="2164815" cy="274320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655280" y="3698748"/>
            <a:ext cx="196801" cy="274320"/>
          </a:xfrm>
          <a:prstGeom prst="rect">
            <a:avLst/>
          </a:prstGeom>
          <a:solidFill>
            <a:srgbClr val="2A7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911535" y="3685032"/>
            <a:ext cx="71323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1">
                <a:solidFill>
                  <a:srgbClr val="17518D"/>
                </a:solidFill>
                <a:latin typeface="Segoe UI"/>
              </a:rPr>
              <a:t>$0.45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47308" y="4101084"/>
            <a:ext cx="2216533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0202E"/>
                </a:solidFill>
                <a:latin typeface="Segoe UI"/>
              </a:rPr>
              <a:t>Audit trail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655280" y="4114800"/>
            <a:ext cx="2164815" cy="274320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655280" y="4114800"/>
            <a:ext cx="78721" cy="274320"/>
          </a:xfrm>
          <a:prstGeom prst="rect">
            <a:avLst/>
          </a:prstGeom>
          <a:solidFill>
            <a:srgbClr val="2A7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911535" y="4101084"/>
            <a:ext cx="71323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1">
                <a:solidFill>
                  <a:srgbClr val="17518D"/>
                </a:solidFill>
                <a:latin typeface="Segoe UI"/>
              </a:rPr>
              <a:t>$0.18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" y="4700016"/>
            <a:ext cx="11057839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4A5B68"/>
                </a:solidFill>
                <a:latin typeface="Segoe UI"/>
              </a:rPr>
              <a:t>WHAT THAT MEANS AT VOLUME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66928" y="4974336"/>
            <a:ext cx="2679192" cy="932688"/>
          </a:xfrm>
          <a:prstGeom prst="roundRect">
            <a:avLst/>
          </a:prstGeom>
          <a:solidFill>
            <a:srgbClr val="EEF6FF"/>
          </a:solidFill>
          <a:ln w="15875">
            <a:solidFill>
              <a:srgbClr val="D9E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82296" rIns="45720" bIns="18288" rtlCol="0" anchor="ctr"/>
          <a:lstStyle/>
          <a:p>
            <a:pPr algn="ctr"/>
            <a:r>
              <a:rPr sz="2300" b="1">
                <a:solidFill>
                  <a:srgbClr val="17518D"/>
                </a:solidFill>
                <a:latin typeface="Segoe UI"/>
              </a:rPr>
              <a:t>$295</a:t>
            </a:r>
          </a:p>
          <a:p>
            <a:pPr algn="ctr"/>
            <a:r>
              <a:rPr sz="1200" b="0">
                <a:solidFill>
                  <a:srgbClr val="10202E"/>
                </a:solidFill>
                <a:latin typeface="Segoe UI"/>
              </a:rPr>
              <a:t>a sprint</a:t>
            </a:r>
          </a:p>
          <a:p>
            <a:pPr algn="ctr"/>
            <a:r>
              <a:rPr sz="950" b="0">
                <a:solidFill>
                  <a:srgbClr val="4A5B68"/>
                </a:solidFill>
                <a:latin typeface="Segoe UI"/>
              </a:rPr>
              <a:t>25 stories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429000" y="4974336"/>
            <a:ext cx="2679192" cy="932688"/>
          </a:xfrm>
          <a:prstGeom prst="roundRect">
            <a:avLst/>
          </a:prstGeom>
          <a:solidFill>
            <a:srgbClr val="EEF6FF"/>
          </a:solidFill>
          <a:ln w="15875">
            <a:solidFill>
              <a:srgbClr val="D9E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82296" rIns="45720" bIns="18288" rtlCol="0" anchor="ctr"/>
          <a:lstStyle/>
          <a:p>
            <a:pPr algn="ctr"/>
            <a:r>
              <a:rPr sz="2300" b="1">
                <a:solidFill>
                  <a:srgbClr val="17518D"/>
                </a:solidFill>
                <a:latin typeface="Segoe UI"/>
              </a:rPr>
              <a:t>$7,078</a:t>
            </a:r>
          </a:p>
          <a:p>
            <a:pPr algn="ctr"/>
            <a:r>
              <a:rPr sz="1200" b="0">
                <a:solidFill>
                  <a:srgbClr val="10202E"/>
                </a:solidFill>
                <a:latin typeface="Segoe UI"/>
              </a:rPr>
              <a:t>a year</a:t>
            </a:r>
          </a:p>
          <a:p>
            <a:pPr algn="ctr"/>
            <a:r>
              <a:rPr sz="950" b="0">
                <a:solidFill>
                  <a:srgbClr val="4A5B68"/>
                </a:solidFill>
                <a:latin typeface="Segoe UI"/>
              </a:rPr>
              <a:t>600 stories, one team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91072" y="4974336"/>
            <a:ext cx="2679192" cy="932688"/>
          </a:xfrm>
          <a:prstGeom prst="roundRect">
            <a:avLst/>
          </a:prstGeom>
          <a:solidFill>
            <a:srgbClr val="EEF6FF"/>
          </a:solidFill>
          <a:ln w="15875">
            <a:solidFill>
              <a:srgbClr val="D9E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82296" rIns="45720" bIns="18288" rtlCol="0" anchor="ctr"/>
          <a:lstStyle/>
          <a:p>
            <a:pPr algn="ctr"/>
            <a:r>
              <a:rPr sz="2300" b="1">
                <a:solidFill>
                  <a:srgbClr val="17518D"/>
                </a:solidFill>
                <a:latin typeface="Segoe UI"/>
              </a:rPr>
              <a:t>$3,969</a:t>
            </a:r>
          </a:p>
          <a:p>
            <a:pPr algn="ctr"/>
            <a:r>
              <a:rPr sz="1200" b="0">
                <a:solidFill>
                  <a:srgbClr val="10202E"/>
                </a:solidFill>
                <a:latin typeface="Segoe UI"/>
              </a:rPr>
              <a:t>a year, tuned</a:t>
            </a:r>
          </a:p>
          <a:p>
            <a:pPr algn="ctr"/>
            <a:r>
              <a:rPr sz="950" b="0">
                <a:solidFill>
                  <a:srgbClr val="4A5B68"/>
                </a:solidFill>
                <a:latin typeface="Segoe UI"/>
              </a:rPr>
              <a:t>with caching and model routing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153144" y="4974336"/>
            <a:ext cx="2679192" cy="932688"/>
          </a:xfrm>
          <a:prstGeom prst="roundRect">
            <a:avLst/>
          </a:prstGeom>
          <a:solidFill>
            <a:srgbClr val="EEF6FF"/>
          </a:solidFill>
          <a:ln w="15875">
            <a:solidFill>
              <a:srgbClr val="D9E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82296" rIns="45720" bIns="18288" rtlCol="0" anchor="ctr"/>
          <a:lstStyle/>
          <a:p>
            <a:pPr algn="ctr"/>
            <a:r>
              <a:rPr sz="2300" b="1">
                <a:solidFill>
                  <a:srgbClr val="17518D"/>
                </a:solidFill>
                <a:latin typeface="Segoe UI"/>
              </a:rPr>
              <a:t>±40%</a:t>
            </a:r>
          </a:p>
          <a:p>
            <a:pPr algn="ctr"/>
            <a:r>
              <a:rPr sz="1200" b="0">
                <a:solidFill>
                  <a:srgbClr val="10202E"/>
                </a:solidFill>
                <a:latin typeface="Segoe UI"/>
              </a:rPr>
              <a:t>estimate range</a:t>
            </a:r>
          </a:p>
          <a:p>
            <a:pPr algn="ctr"/>
            <a:r>
              <a:rPr sz="950" b="0">
                <a:solidFill>
                  <a:srgbClr val="4A5B68"/>
                </a:solidFill>
                <a:latin typeface="Segoe UI"/>
              </a:rPr>
              <a:t>planning-grade, metered from day one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66928" y="6053328"/>
            <a:ext cx="11057839" cy="548640"/>
          </a:xfrm>
          <a:prstGeom prst="roundRect">
            <a:avLst/>
          </a:prstGeom>
          <a:solidFill>
            <a:srgbClr val="E8F5EE"/>
          </a:solidFill>
          <a:ln w="15875">
            <a:solidFill>
              <a:srgbClr val="1B6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8288" rIns="164592" bIns="18288" rtlCol="0" anchor="ctr"/>
          <a:lstStyle/>
          <a:p>
            <a:pPr algn="l"/>
            <a:r>
              <a:rPr sz="1350" b="1">
                <a:solidFill>
                  <a:srgbClr val="1B6E4B"/>
                </a:solidFill>
                <a:latin typeface="Segoe UI"/>
              </a:rPr>
              <a:t>A story costs less in tokens than the coffee break it takes to review. Excludes people, infrastructure and licences.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110578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7518D"/>
                </a:solidFill>
                <a:latin typeface="Segoe UI"/>
              </a:rPr>
              <a:t>Small footprint. Real upside. Every risk has a named control.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59536"/>
            <a:ext cx="960120" cy="50800"/>
          </a:xfrm>
          <a:prstGeom prst="rect">
            <a:avLst/>
          </a:prstGeom>
          <a:solidFill>
            <a:srgbClr val="2A7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10578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A5B68"/>
                </a:solidFill>
                <a:latin typeface="Segoe UI"/>
              </a:rPr>
              <a:t>5. Infrastructure  |  6. Pros and cons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73952"/>
            <a:ext cx="457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4A5B68"/>
                </a:solidFill>
                <a:latin typeface="Segoe UI"/>
              </a:rPr>
              <a:t>5/5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44752"/>
            <a:ext cx="3478682" cy="402336"/>
          </a:xfrm>
          <a:prstGeom prst="roundRect">
            <a:avLst/>
          </a:prstGeom>
          <a:solidFill>
            <a:srgbClr val="1F66B0"/>
          </a:solidFill>
          <a:ln w="12700">
            <a:solidFill>
              <a:srgbClr val="1F6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5.  INFRASTRUCTURE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75104"/>
            <a:ext cx="3478682" cy="1078992"/>
          </a:xfrm>
          <a:prstGeom prst="roundRect">
            <a:avLst/>
          </a:prstGeom>
          <a:solidFill>
            <a:srgbClr val="EEF6FF"/>
          </a:solidFill>
          <a:ln w="15875">
            <a:solidFill>
              <a:srgbClr val="D9E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82296" rIns="45720" bIns="18288" rtlCol="0" anchor="ctr"/>
          <a:lstStyle/>
          <a:p>
            <a:pPr algn="ctr"/>
            <a:r>
              <a:rPr sz="3200" b="1">
                <a:solidFill>
                  <a:srgbClr val="17518D"/>
                </a:solidFill>
                <a:latin typeface="Segoe UI"/>
              </a:rPr>
              <a:t>$235-660</a:t>
            </a:r>
          </a:p>
          <a:p>
            <a:pPr algn="ctr"/>
            <a:r>
              <a:rPr sz="1200" b="0">
                <a:solidFill>
                  <a:srgbClr val="10202E"/>
                </a:solidFill>
                <a:latin typeface="Segoe UI"/>
              </a:rPr>
              <a:t>per month</a:t>
            </a:r>
          </a:p>
          <a:p>
            <a:pPr algn="ctr"/>
            <a:r>
              <a:rPr sz="950" b="0">
                <a:solidFill>
                  <a:srgbClr val="4A5B68"/>
                </a:solidFill>
                <a:latin typeface="Segoe UI"/>
              </a:rPr>
              <a:t>at pilot sizing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236976"/>
            <a:ext cx="3478682" cy="512064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B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50" b="1">
                <a:solidFill>
                  <a:srgbClr val="17518D"/>
                </a:solidFill>
                <a:latin typeface="Segoe UI"/>
              </a:rPr>
              <a:t>Compute</a:t>
            </a:r>
          </a:p>
          <a:p>
            <a:pPr algn="ctr"/>
            <a:r>
              <a:rPr sz="1000" b="0">
                <a:solidFill>
                  <a:srgbClr val="17518D"/>
                </a:solidFill>
                <a:latin typeface="Segoe UI"/>
              </a:rPr>
              <a:t>Containers that scale to zero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822192"/>
            <a:ext cx="3478682" cy="512064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B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50" b="1">
                <a:solidFill>
                  <a:srgbClr val="17518D"/>
                </a:solidFill>
                <a:latin typeface="Segoe UI"/>
              </a:rPr>
              <a:t>Data</a:t>
            </a:r>
          </a:p>
          <a:p>
            <a:pPr algn="ctr"/>
            <a:r>
              <a:rPr sz="1000" b="0">
                <a:solidFill>
                  <a:srgbClr val="17518D"/>
                </a:solidFill>
                <a:latin typeface="Segoe UI"/>
              </a:rPr>
              <a:t>Managed database, object storage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407408"/>
            <a:ext cx="3478682" cy="512064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B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50" b="1">
                <a:solidFill>
                  <a:srgbClr val="17518D"/>
                </a:solidFill>
                <a:latin typeface="Segoe UI"/>
              </a:rPr>
              <a:t>Security</a:t>
            </a:r>
          </a:p>
          <a:p>
            <a:pPr algn="ctr"/>
            <a:r>
              <a:rPr sz="1000" b="0">
                <a:solidFill>
                  <a:srgbClr val="17518D"/>
                </a:solidFill>
                <a:latin typeface="Segoe UI"/>
              </a:rPr>
              <a:t>Vaulted secrets, short-lived access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992624"/>
            <a:ext cx="3478682" cy="512064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B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50" b="1">
                <a:solidFill>
                  <a:srgbClr val="17518D"/>
                </a:solidFill>
                <a:latin typeface="Segoe UI"/>
              </a:rPr>
              <a:t>Pipelines</a:t>
            </a:r>
          </a:p>
          <a:p>
            <a:pPr algn="ctr"/>
            <a:r>
              <a:rPr sz="1000" b="0">
                <a:solidFill>
                  <a:srgbClr val="17518D"/>
                </a:solidFill>
                <a:latin typeface="Segoe UI"/>
              </a:rPr>
              <a:t>The GitHub Actions we already have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596128"/>
            <a:ext cx="347868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4A5B68"/>
                </a:solidFill>
                <a:latin typeface="Segoe UI"/>
              </a:rPr>
              <a:t>Dev and QA only. No production exposure.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6506" y="1444752"/>
            <a:ext cx="3478682" cy="402336"/>
          </a:xfrm>
          <a:prstGeom prst="roundRect">
            <a:avLst/>
          </a:prstGeom>
          <a:solidFill>
            <a:srgbClr val="1B6E4B"/>
          </a:solidFill>
          <a:ln w="12700">
            <a:solidFill>
              <a:srgbClr val="1B6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6.  WHAT WE GAIN</a:t>
            </a:r>
          </a:p>
        </p:txBody>
      </p:sp>
      <p:sp>
        <p:nvSpPr>
          <p:cNvPr id="14" name="Oval 13"/>
          <p:cNvSpPr/>
          <p:nvPr/>
        </p:nvSpPr>
        <p:spPr>
          <a:xfrm>
            <a:off x="4393082" y="2103120"/>
            <a:ext cx="237744" cy="237744"/>
          </a:xfrm>
          <a:prstGeom prst="ellipse">
            <a:avLst/>
          </a:prstGeom>
          <a:solidFill>
            <a:srgbClr val="E8F5EE"/>
          </a:solidFill>
          <a:ln w="12700">
            <a:solidFill>
              <a:srgbClr val="1B6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>
                <a:solidFill>
                  <a:srgbClr val="1B6E4B"/>
                </a:solidFill>
                <a:latin typeface="Segoe U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0554" y="2057400"/>
            <a:ext cx="3058058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dirty="0">
                <a:solidFill>
                  <a:srgbClr val="10202E"/>
                </a:solidFill>
                <a:latin typeface="Segoe UI"/>
              </a:rPr>
              <a:t>Faster delivery - no waiting between hand-offs</a:t>
            </a:r>
          </a:p>
        </p:txBody>
      </p:sp>
      <p:sp>
        <p:nvSpPr>
          <p:cNvPr id="16" name="Oval 15"/>
          <p:cNvSpPr/>
          <p:nvPr/>
        </p:nvSpPr>
        <p:spPr>
          <a:xfrm>
            <a:off x="4393082" y="2761488"/>
            <a:ext cx="237744" cy="237744"/>
          </a:xfrm>
          <a:prstGeom prst="ellipse">
            <a:avLst/>
          </a:prstGeom>
          <a:solidFill>
            <a:srgbClr val="E8F5EE"/>
          </a:solidFill>
          <a:ln w="12700">
            <a:solidFill>
              <a:srgbClr val="1B6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>
                <a:solidFill>
                  <a:srgbClr val="1B6E4B"/>
                </a:solidFill>
                <a:latin typeface="Segoe U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40554" y="2715768"/>
            <a:ext cx="3058058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0202E"/>
                </a:solidFill>
                <a:latin typeface="Segoe UI"/>
              </a:rPr>
              <a:t>Audit-ready by default, not reconstructed later</a:t>
            </a:r>
          </a:p>
        </p:txBody>
      </p:sp>
      <p:sp>
        <p:nvSpPr>
          <p:cNvPr id="18" name="Oval 17"/>
          <p:cNvSpPr/>
          <p:nvPr/>
        </p:nvSpPr>
        <p:spPr>
          <a:xfrm>
            <a:off x="4393082" y="3419856"/>
            <a:ext cx="237744" cy="237744"/>
          </a:xfrm>
          <a:prstGeom prst="ellipse">
            <a:avLst/>
          </a:prstGeom>
          <a:solidFill>
            <a:srgbClr val="E8F5EE"/>
          </a:solidFill>
          <a:ln w="12700">
            <a:solidFill>
              <a:srgbClr val="1B6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>
                <a:solidFill>
                  <a:srgbClr val="1B6E4B"/>
                </a:solidFill>
                <a:latin typeface="Segoe U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40554" y="3374136"/>
            <a:ext cx="3058058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0202E"/>
                </a:solidFill>
                <a:latin typeface="Segoe UI"/>
              </a:rPr>
              <a:t>Every acceptance criterion has a passing test</a:t>
            </a:r>
          </a:p>
        </p:txBody>
      </p:sp>
      <p:sp>
        <p:nvSpPr>
          <p:cNvPr id="20" name="Oval 19"/>
          <p:cNvSpPr/>
          <p:nvPr/>
        </p:nvSpPr>
        <p:spPr>
          <a:xfrm>
            <a:off x="4393082" y="4078224"/>
            <a:ext cx="237744" cy="237744"/>
          </a:xfrm>
          <a:prstGeom prst="ellipse">
            <a:avLst/>
          </a:prstGeom>
          <a:solidFill>
            <a:srgbClr val="E8F5EE"/>
          </a:solidFill>
          <a:ln w="12700">
            <a:solidFill>
              <a:srgbClr val="1B6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>
                <a:solidFill>
                  <a:srgbClr val="1B6E4B"/>
                </a:solidFill>
                <a:latin typeface="Segoe U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40554" y="4032504"/>
            <a:ext cx="3058058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0202E"/>
                </a:solidFill>
                <a:latin typeface="Segoe UI"/>
              </a:rPr>
              <a:t>Delivery cost visible per story for the first time</a:t>
            </a:r>
          </a:p>
        </p:txBody>
      </p:sp>
      <p:sp>
        <p:nvSpPr>
          <p:cNvPr id="22" name="Oval 21"/>
          <p:cNvSpPr/>
          <p:nvPr/>
        </p:nvSpPr>
        <p:spPr>
          <a:xfrm>
            <a:off x="4393082" y="4736592"/>
            <a:ext cx="237744" cy="237744"/>
          </a:xfrm>
          <a:prstGeom prst="ellipse">
            <a:avLst/>
          </a:prstGeom>
          <a:solidFill>
            <a:srgbClr val="E8F5EE"/>
          </a:solidFill>
          <a:ln w="12700">
            <a:solidFill>
              <a:srgbClr val="1B6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>
                <a:solidFill>
                  <a:srgbClr val="1B6E4B"/>
                </a:solidFill>
                <a:latin typeface="Segoe U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40554" y="4690872"/>
            <a:ext cx="3058058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0202E"/>
                </a:solidFill>
                <a:latin typeface="Segoe UI"/>
              </a:rPr>
              <a:t>Engineers freed for design and hard problems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46085" y="1444752"/>
            <a:ext cx="3478682" cy="402336"/>
          </a:xfrm>
          <a:prstGeom prst="roundRect">
            <a:avLst/>
          </a:prstGeom>
          <a:solidFill>
            <a:srgbClr val="B56A0B"/>
          </a:solidFill>
          <a:ln w="12700">
            <a:solidFill>
              <a:srgbClr val="B56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6.  WHAT WE WATCH</a:t>
            </a:r>
          </a:p>
        </p:txBody>
      </p:sp>
      <p:sp>
        <p:nvSpPr>
          <p:cNvPr id="25" name="Oval 24"/>
          <p:cNvSpPr/>
          <p:nvPr/>
        </p:nvSpPr>
        <p:spPr>
          <a:xfrm>
            <a:off x="8182661" y="2103120"/>
            <a:ext cx="237744" cy="237744"/>
          </a:xfrm>
          <a:prstGeom prst="ellipse">
            <a:avLst/>
          </a:prstGeom>
          <a:solidFill>
            <a:srgbClr val="FDF4E3"/>
          </a:solidFill>
          <a:ln w="12700">
            <a:solidFill>
              <a:srgbClr val="B56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>
                <a:solidFill>
                  <a:srgbClr val="B56A0B"/>
                </a:solidFill>
                <a:latin typeface="Segoe UI"/>
              </a:rPr>
              <a:t>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30133" y="2057400"/>
            <a:ext cx="3058058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0202E"/>
                </a:solidFill>
                <a:latin typeface="Segoe UI"/>
              </a:rPr>
              <a:t>Output varies → automated quality checks on every change</a:t>
            </a:r>
          </a:p>
        </p:txBody>
      </p:sp>
      <p:sp>
        <p:nvSpPr>
          <p:cNvPr id="27" name="Oval 26"/>
          <p:cNvSpPr/>
          <p:nvPr/>
        </p:nvSpPr>
        <p:spPr>
          <a:xfrm>
            <a:off x="8182661" y="2761488"/>
            <a:ext cx="237744" cy="237744"/>
          </a:xfrm>
          <a:prstGeom prst="ellipse">
            <a:avLst/>
          </a:prstGeom>
          <a:solidFill>
            <a:srgbClr val="FDF4E3"/>
          </a:solidFill>
          <a:ln w="12700">
            <a:solidFill>
              <a:srgbClr val="B56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>
                <a:solidFill>
                  <a:srgbClr val="B56A0B"/>
                </a:solidFill>
                <a:latin typeface="Segoe UI"/>
              </a:rPr>
              <a:t>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30133" y="2715768"/>
            <a:ext cx="3058058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0202E"/>
                </a:solidFill>
                <a:latin typeface="Segoe UI"/>
              </a:rPr>
              <a:t>Retries cost money → hard budget cap per story</a:t>
            </a:r>
          </a:p>
        </p:txBody>
      </p:sp>
      <p:sp>
        <p:nvSpPr>
          <p:cNvPr id="29" name="Oval 28"/>
          <p:cNvSpPr/>
          <p:nvPr/>
        </p:nvSpPr>
        <p:spPr>
          <a:xfrm>
            <a:off x="8182661" y="3419856"/>
            <a:ext cx="237744" cy="237744"/>
          </a:xfrm>
          <a:prstGeom prst="ellipse">
            <a:avLst/>
          </a:prstGeom>
          <a:solidFill>
            <a:srgbClr val="FDF4E3"/>
          </a:solidFill>
          <a:ln w="12700">
            <a:solidFill>
              <a:srgbClr val="B56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>
                <a:solidFill>
                  <a:srgbClr val="B56A0B"/>
                </a:solidFill>
                <a:latin typeface="Segoe UI"/>
              </a:rPr>
              <a:t>!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30133" y="3374136"/>
            <a:ext cx="3058058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0202E"/>
                </a:solidFill>
                <a:latin typeface="Segoe UI"/>
              </a:rPr>
              <a:t>Review becomes the queue → evidence-first summaries</a:t>
            </a:r>
          </a:p>
        </p:txBody>
      </p:sp>
      <p:sp>
        <p:nvSpPr>
          <p:cNvPr id="31" name="Oval 30"/>
          <p:cNvSpPr/>
          <p:nvPr/>
        </p:nvSpPr>
        <p:spPr>
          <a:xfrm>
            <a:off x="8182661" y="4078224"/>
            <a:ext cx="237744" cy="237744"/>
          </a:xfrm>
          <a:prstGeom prst="ellipse">
            <a:avLst/>
          </a:prstGeom>
          <a:solidFill>
            <a:srgbClr val="FDF4E3"/>
          </a:solidFill>
          <a:ln w="12700">
            <a:solidFill>
              <a:srgbClr val="B56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>
                <a:solidFill>
                  <a:srgbClr val="B56A0B"/>
                </a:solidFill>
                <a:latin typeface="Segoe UI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30133" y="4032504"/>
            <a:ext cx="3058058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0202E"/>
                </a:solidFill>
                <a:latin typeface="Segoe UI"/>
              </a:rPr>
              <a:t>Green gates invite complacency → spot audits each sprint</a:t>
            </a:r>
          </a:p>
        </p:txBody>
      </p:sp>
      <p:sp>
        <p:nvSpPr>
          <p:cNvPr id="33" name="Oval 32"/>
          <p:cNvSpPr/>
          <p:nvPr/>
        </p:nvSpPr>
        <p:spPr>
          <a:xfrm>
            <a:off x="8182661" y="4736592"/>
            <a:ext cx="237744" cy="237744"/>
          </a:xfrm>
          <a:prstGeom prst="ellipse">
            <a:avLst/>
          </a:prstGeom>
          <a:solidFill>
            <a:srgbClr val="FDF4E3"/>
          </a:solidFill>
          <a:ln w="12700">
            <a:solidFill>
              <a:srgbClr val="B56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>
                <a:solidFill>
                  <a:srgbClr val="B56A0B"/>
                </a:solidFill>
                <a:latin typeface="Segoe UI"/>
              </a:rPr>
              <a:t>!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30133" y="4690872"/>
            <a:ext cx="3058058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0202E"/>
                </a:solidFill>
                <a:latin typeface="Segoe UI"/>
              </a:rPr>
              <a:t>Poor fit for vague work → blocked before it enters the loop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6053328"/>
            <a:ext cx="11057839" cy="548640"/>
          </a:xfrm>
          <a:prstGeom prst="roundRect">
            <a:avLst/>
          </a:prstGeom>
          <a:solidFill>
            <a:srgbClr val="EEF6FF"/>
          </a:solidFill>
          <a:ln w="15875">
            <a:solidFill>
              <a:srgbClr val="2A7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8288" rIns="164592" bIns="18288" rtlCol="0" anchor="ctr"/>
          <a:lstStyle/>
          <a:p>
            <a:pPr algn="l"/>
            <a:r>
              <a:rPr sz="1350" b="1">
                <a:solidFill>
                  <a:srgbClr val="17518D"/>
                </a:solidFill>
                <a:latin typeface="Segoe UI"/>
              </a:rPr>
              <a:t>Ask: approve a bounded pilot - $179 to build, $11.80 a story to run, and no agent that can ever approve its own work.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1554</TotalTime>
  <Words>759</Words>
  <Application>Microsoft Office PowerPoint</Application>
  <PresentationFormat>Widescreen</PresentationFormat>
  <Paragraphs>166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Chikka Ravi  Kiran</cp:lastModifiedBy>
  <cp:revision>2</cp:revision>
  <dcterms:created xsi:type="dcterms:W3CDTF">2013-01-27T09:14:16Z</dcterms:created>
  <dcterms:modified xsi:type="dcterms:W3CDTF">2026-09-03T15:24:07Z</dcterms:modified>
  <cp:category/>
</cp:coreProperties>
</file>